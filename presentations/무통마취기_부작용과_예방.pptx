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651760" cy="320040"/>
          </a:xfrm>
          <a:prstGeom prst="rect">
            <a:avLst/>
          </a:prstGeom>
          <a:solidFill>
            <a:srgbClr val="C98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51760" y="0"/>
            <a:ext cx="1371600" cy="320040"/>
          </a:xfrm>
          <a:prstGeom prst="rect">
            <a:avLst/>
          </a:prstGeom>
          <a:solidFill>
            <a:srgbClr val="D98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0" y="0"/>
            <a:ext cx="2651760" cy="320040"/>
          </a:xfrm>
          <a:prstGeom prst="rect">
            <a:avLst/>
          </a:prstGeom>
          <a:solidFill>
            <a:srgbClr val="F2C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91695" cy="1234440"/>
          </a:xfrm>
          <a:prstGeom prst="rect">
            <a:avLst/>
          </a:prstGeom>
          <a:solidFill>
            <a:srgbClr val="E9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07040" y="502920"/>
            <a:ext cx="914400" cy="914400"/>
          </a:xfrm>
          <a:prstGeom prst="rect">
            <a:avLst/>
          </a:prstGeom>
          <a:solidFill>
            <a:srgbClr val="B9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64240" y="960120"/>
            <a:ext cx="1097280" cy="1005840"/>
          </a:xfrm>
          <a:prstGeom prst="rect">
            <a:avLst/>
          </a:prstGeom>
          <a:solidFill>
            <a:srgbClr val="D8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5029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5B2A86"/>
                </a:solidFill>
                <a:latin typeface="Malgun Gothic"/>
              </a:rPr>
              <a:t>무통마취기 부작용과 예방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u="none">
                <a:solidFill>
                  <a:srgbClr val="1A1A1A"/>
                </a:solidFill>
                <a:latin typeface="Malgun Gothic"/>
              </a:rPr>
              <a:t>▶ 과도한 Ischemia 유발</a:t>
            </a:r>
          </a:p>
          <a:p>
            <a:pPr>
              <a:spcBef>
                <a:spcPts val="600"/>
              </a:spcBef>
            </a:pPr>
            <a:r>
              <a:rPr sz="2000" b="0" u="sng">
                <a:solidFill>
                  <a:srgbClr val="1A1A1A"/>
                </a:solidFill>
                <a:latin typeface="Malgun Gothic"/>
              </a:rPr>
              <a:t>   원인 : 치은 구개부에 한부위에 집중 다량 자입시</a:t>
            </a:r>
          </a:p>
          <a:p>
            <a:pPr>
              <a:spcBef>
                <a:spcPts val="600"/>
              </a:spcBef>
            </a:pPr>
            <a:r>
              <a:rPr sz="2000" b="0" u="none">
                <a:solidFill>
                  <a:srgbClr val="1A1A1A"/>
                </a:solidFill>
                <a:latin typeface="Malgun Gothic"/>
              </a:rPr>
              <a:t>   증상 : 치은 괴사, 초록색 scar가 지면서 Pain 유발</a:t>
            </a:r>
          </a:p>
          <a:p>
            <a:pPr>
              <a:spcBef>
                <a:spcPts val="600"/>
              </a:spcBef>
            </a:pPr>
            <a:r>
              <a:rPr sz="1000" b="0" u="none">
                <a:solidFill>
                  <a:srgbClr val="1A1A1A"/>
                </a:solidFill>
                <a:latin typeface="Malgun Gothic"/>
              </a:rPr>
              <a:t/>
            </a:r>
          </a:p>
          <a:p>
            <a:pPr>
              <a:spcBef>
                <a:spcPts val="600"/>
              </a:spcBef>
            </a:pPr>
            <a:r>
              <a:rPr sz="2200" b="0" u="none">
                <a:solidFill>
                  <a:srgbClr val="1A1A1A"/>
                </a:solidFill>
                <a:latin typeface="Malgun Gothic"/>
              </a:rPr>
              <a:t>▶ 예방법 : 반앰플 이상 주입금지, 자입 부위 이동</a:t>
            </a:r>
          </a:p>
          <a:p>
            <a:pPr>
              <a:spcBef>
                <a:spcPts val="600"/>
              </a:spcBef>
            </a:pPr>
            <a:r>
              <a:rPr sz="2200" b="0" u="none">
                <a:solidFill>
                  <a:srgbClr val="1A1A1A"/>
                </a:solidFill>
                <a:latin typeface="Malgun Gothic"/>
              </a:rPr>
              <a:t>▶ 마취액 흐름 : 매우 쓴맛, 거즈 준비</a:t>
            </a:r>
          </a:p>
          <a:p>
            <a:pPr>
              <a:spcBef>
                <a:spcPts val="600"/>
              </a:spcBef>
            </a:pPr>
            <a:r>
              <a:rPr sz="1000" b="0" u="none">
                <a:solidFill>
                  <a:srgbClr val="1A1A1A"/>
                </a:solidFill>
                <a:latin typeface="Malgun Gothic"/>
              </a:rPr>
              <a:t/>
            </a:r>
          </a:p>
          <a:p>
            <a:pPr>
              <a:spcBef>
                <a:spcPts val="600"/>
              </a:spcBef>
            </a:pPr>
            <a:r>
              <a:rPr sz="2200" b="0" u="none">
                <a:solidFill>
                  <a:srgbClr val="1A1A1A"/>
                </a:solidFill>
                <a:latin typeface="Malgun Gothic"/>
              </a:rPr>
              <a:t>▶ 마취 장기간 마취현상</a:t>
            </a:r>
          </a:p>
          <a:p>
            <a:pPr>
              <a:spcBef>
                <a:spcPts val="600"/>
              </a:spcBef>
            </a:pPr>
            <a:r>
              <a:rPr sz="2000" b="0" u="sng">
                <a:solidFill>
                  <a:srgbClr val="1A1A1A"/>
                </a:solidFill>
                <a:latin typeface="Malgun Gothic"/>
              </a:rPr>
              <a:t>   원인 : 가는 니들로 치주낭 깊게 주입시</a:t>
            </a:r>
          </a:p>
          <a:p>
            <a:pPr>
              <a:spcBef>
                <a:spcPts val="600"/>
              </a:spcBef>
            </a:pPr>
            <a:r>
              <a:rPr sz="2000" b="0" u="none">
                <a:solidFill>
                  <a:srgbClr val="1A1A1A"/>
                </a:solidFill>
                <a:latin typeface="Malgun Gothic"/>
              </a:rPr>
              <a:t>   장기간 마비현상</a:t>
            </a:r>
          </a:p>
          <a:p>
            <a:pPr>
              <a:spcBef>
                <a:spcPts val="600"/>
              </a:spcBef>
            </a:pPr>
            <a:r>
              <a:rPr sz="2000" b="0" u="sng">
                <a:solidFill>
                  <a:srgbClr val="1A1A1A"/>
                </a:solidFill>
                <a:latin typeface="Malgun Gothic"/>
              </a:rPr>
              <a:t>   해결 : 8주후 회복됨</a:t>
            </a:r>
          </a:p>
        </p:txBody>
      </p:sp>
      <p:pic>
        <p:nvPicPr>
          <p:cNvPr id="10" name="Picture 9" descr="clinical_photo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965960"/>
            <a:ext cx="4023360" cy="42062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784848"/>
            <a:ext cx="12191695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